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846320"/>
            <a:ext cx="73152" cy="7315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484632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484632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484632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0" y="484632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521208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0" y="5212080"/>
            <a:ext cx="73152" cy="7315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521208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0" y="521208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0" y="521208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0" y="557784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0" y="557784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32720" y="5577840"/>
            <a:ext cx="73152" cy="7315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8480" y="557784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64240" y="557784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0" y="594360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594360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594360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0" y="5943600"/>
            <a:ext cx="73152" cy="7315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64240" y="594360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630936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66960" y="630936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32720" y="630936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98480" y="6309360"/>
            <a:ext cx="73152" cy="73152"/>
          </a:xfrm>
          <a:prstGeom prst="ellipse">
            <a:avLst/>
          </a:prstGeom>
          <a:solidFill>
            <a:srgbClr val="A02021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064240" y="6309360"/>
            <a:ext cx="73152" cy="7315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1619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REDFIN APPLIED ML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173736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Productionizing the AVM</a:t>
            </a:r>
            <a:endParaRPr lang="en-US" sz="5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the Home Recommender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731520" y="4114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walkthrough of an MVP for the Senior Machine Learning Engineer role — models, serving, MLOps, monitoring, and what I'd ship in 90 days.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31520" y="5760720"/>
            <a:ext cx="914400" cy="0"/>
          </a:xfrm>
          <a:prstGeom prst="line">
            <a:avLst/>
          </a:prstGeom>
          <a:noFill/>
          <a:ln w="25400">
            <a:solidFill>
              <a:srgbClr val="A020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9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· SR. MACHINE LEARNING ENGINEER INTERVIEW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systems that sit at the top of the Redfin funnel.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see hundreds of millions of users. Neither tolerates silent failure.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9476" y="237744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9476" y="2377440"/>
            <a:ext cx="3566160" cy="73152"/>
          </a:xfrm>
          <a:prstGeom prst="rect">
            <a:avLst/>
          </a:prstGeom>
          <a:solidFill>
            <a:srgbClr val="F4B942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" y="2651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A02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$75B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53796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market Redfin is rewiring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" y="4526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AVM drives pricing on every listing page. The recommender shapes what customers see next.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1396" y="237744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1396" y="2377440"/>
            <a:ext cx="3566160" cy="73152"/>
          </a:xfrm>
          <a:prstGeom prst="rect">
            <a:avLst/>
          </a:prstGeom>
          <a:solidFill>
            <a:srgbClr val="F4B942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5716" y="2651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A02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585716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Redfin platform traffic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85716" y="4526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 from the Brokerage Recommendations product alone — a single model's daily impact on the business.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43316" y="237744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3316" y="2377440"/>
            <a:ext cx="3566160" cy="73152"/>
          </a:xfrm>
          <a:prstGeom prst="rect">
            <a:avLst/>
          </a:prstGeom>
          <a:solidFill>
            <a:srgbClr val="A02021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17636" y="2651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A02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8517636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of AVM regressions: silent skew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17636" y="4526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Training/serving drift, not a bad model. This MVP is designed around catching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REDFIN APPLIED ML · MVP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67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runnable sliver of a national-scale ML platform.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planes: training, serving, MLOps — same separation real teams run with.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73152" cy="13258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PLANE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46120" y="263347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263347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feature ETL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56098" y="263347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5826" y="263347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store (Parquet)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66076" y="263347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75804" y="263347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train + ANN index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76054" y="263347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85782" y="263347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eval gate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10916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794760"/>
            <a:ext cx="73152" cy="132588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PLANE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251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serving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246120" y="414223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414223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(3-30 replicas)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56098" y="414223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5826" y="414223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router (shadow capable)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66076" y="414223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5804" y="414223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feature store + Redis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576054" y="414223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85782" y="414223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/metrics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110916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5303520"/>
            <a:ext cx="73152" cy="13258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PLANE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5760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mlops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246120" y="565099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565099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CI/CD: test → train → ship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56098" y="565099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65826" y="565099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w/ stages + rollback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66076" y="565099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5804" y="565099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monitoring (PSI)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76054" y="5650992"/>
            <a:ext cx="1972818" cy="621792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85782" y="5650992"/>
            <a:ext cx="17533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deploy → promote gate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REDFIN APPLIED ML · MVP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167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 · AVM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estimate + 90% confidence band.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regression on log-price + two quantile twins. Every response carries feature contributions.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852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5852160" cy="73152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PRICE ESTIMATE · SEATTLE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$912,400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CI: $821,000 – $1,015,000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260604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v3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4069080"/>
            <a:ext cx="5394960" cy="0"/>
          </a:xfrm>
          <a:prstGeom prst="line">
            <a:avLst/>
          </a:prstGeom>
          <a:noFill/>
          <a:ln w="12700">
            <a:solidFill>
              <a:srgbClr val="E3DE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60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 CONTRIBUTIONS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city_price_level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4480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F9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+0.241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sqft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4773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F9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+0.118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065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school_score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5065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F9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+0.062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358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crime_index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5358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2E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-0.031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650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year_built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5650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F9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+0.028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2606040"/>
            <a:ext cx="54864" cy="64008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606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Quantile twins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2880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extra LGBM models at alpha=0.05 and 0.95 give us a 90% CI on every prediction — customers can reason about risk.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0" y="3520440"/>
            <a:ext cx="54864" cy="64008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attribution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3794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response carries LightGBM contribution scores — stakeholders (brokers, PMs) can explain a price.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0" y="4434840"/>
            <a:ext cx="54864" cy="64008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4434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Skew-safe features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4709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serving share one `build_features()` function; a unit test asserts byte-for-byte parity.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0" y="5349240"/>
            <a:ext cx="54864" cy="64008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5349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Registry-backed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5623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served is whatever's pinned to `production` in the registry. Promotion is one metadata update.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REDFIN APPLIED ML · MVP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67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 · RECOMMENDER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Similar homes, with explanations.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Content-based ANN over standardized features — every recommendation carries 'why.'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3291840" cy="7315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LISTING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#1842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· Single-family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bd · 2.5 ba · 2,200 sqft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$912,400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572000"/>
            <a:ext cx="2926080" cy="0"/>
          </a:xfrm>
          <a:prstGeom prst="line">
            <a:avLst/>
          </a:prstGeom>
          <a:noFill/>
          <a:ln w="12700">
            <a:solidFill>
              <a:srgbClr val="E3DE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63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/v1/recommender/similar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4937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7A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3, same_city = true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77640" y="4114800"/>
            <a:ext cx="457200" cy="0"/>
          </a:xfrm>
          <a:prstGeom prst="line">
            <a:avLst/>
          </a:prstGeom>
          <a:noFill/>
          <a:ln w="38100">
            <a:solidFill>
              <a:srgbClr val="A0202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2103120"/>
            <a:ext cx="7040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103120"/>
            <a:ext cx="73152" cy="128016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212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#2214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bd · 2 ba · 2,100 sqft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07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$895,000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26680" y="2578608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2578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size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750808" y="2578608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50808" y="2578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beds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774936" y="2578608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74936" y="2578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walk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835640" y="2286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835640" y="254203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02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663440" y="3502152"/>
            <a:ext cx="7040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502152"/>
            <a:ext cx="73152" cy="128016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#1983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4632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bd · 2.5 ba · 2,280 sqft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306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$925,000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726680" y="3977640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3977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size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50808" y="3977640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50808" y="3977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school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774936" y="3977640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74936" y="3977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tier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835640" y="3685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835640" y="394106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02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4663440" y="4901184"/>
            <a:ext cx="7040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4901184"/>
            <a:ext cx="73152" cy="128016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50109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#2501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846320" y="5404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bd · 2 ba · 2,050 sqft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5705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$870,000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7726680" y="5376672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26680" y="53766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beds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750808" y="5376672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50808" y="53766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age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774936" y="5376672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74936" y="53766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area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835640" y="508406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835640" y="534009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020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REDFIN APPLIED ML · MVP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9167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 · DRIFT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heartbeat: PSI per feature, every minute.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 → moderate shift (investigate). 0.25 → alarm (consider auto-rollback).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2E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ALARM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severity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28600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PSI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228600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sqft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drifting feature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15400" y="228600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828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2,047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982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seen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PER-FEATURE PSI (vs. training-time reference)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sqft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3785616"/>
            <a:ext cx="5943600" cy="128016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3785616"/>
            <a:ext cx="3685032" cy="128016"/>
          </a:xfrm>
          <a:prstGeom prst="rect">
            <a:avLst/>
          </a:prstGeom>
          <a:solidFill>
            <a:srgbClr val="B92E37"/>
          </a:solidFill>
          <a:ln w="12700">
            <a:solidFill>
              <a:srgbClr val="B92E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66960" y="374904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B92E37"/>
          </a:solidFill>
          <a:ln w="12700">
            <a:solidFill>
              <a:srgbClr val="B92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0" y="3749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school_score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4133088"/>
            <a:ext cx="5943600" cy="128016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4133088"/>
            <a:ext cx="2615184" cy="128016"/>
          </a:xfrm>
          <a:prstGeom prst="rect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40507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0.220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66960" y="4096512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0" y="4096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4398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crime_index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4480560"/>
            <a:ext cx="5943600" cy="128016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0" y="4480560"/>
            <a:ext cx="2139696" cy="128016"/>
          </a:xfrm>
          <a:prstGeom prst="rect">
            <a:avLst/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4398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966960" y="4443984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0A23B"/>
          </a:solidFill>
          <a:ln w="12700">
            <a:solidFill>
              <a:srgbClr val="E0A2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6960" y="4443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" y="4745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walk_score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4828032"/>
            <a:ext cx="5943600" cy="128016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4828032"/>
            <a:ext cx="950976" cy="128016"/>
          </a:xfrm>
          <a:prstGeom prst="rect">
            <a:avLst/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47457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966960" y="479145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66960" y="47914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8640" y="5093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926080" y="5175504"/>
            <a:ext cx="5943600" cy="128016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5175504"/>
            <a:ext cx="832104" cy="128016"/>
          </a:xfrm>
          <a:prstGeom prst="rect">
            <a:avLst/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0" y="5093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0.070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966960" y="5138928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66960" y="51389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864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city_price_level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926080" y="5522976"/>
            <a:ext cx="5943600" cy="128016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5522976"/>
            <a:ext cx="475488" cy="128016"/>
          </a:xfrm>
          <a:prstGeom prst="rect">
            <a:avLst/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0" y="5440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966960" y="548640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66960" y="5486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48640" y="5788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926080" y="5870448"/>
            <a:ext cx="5943600" cy="128016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26080" y="5870448"/>
            <a:ext cx="356616" cy="128016"/>
          </a:xfrm>
          <a:prstGeom prst="rect">
            <a:avLst/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0" y="5788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966960" y="5833872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66960" y="5833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REDFIN APPLIED ML · MVP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09167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→ Production is an 8-step journey.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arrows = automated. Diamonds = human approval. Circles = where things fail.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13533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578608"/>
            <a:ext cx="320040" cy="3200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78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ETL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56232" y="2926080"/>
            <a:ext cx="54864" cy="0"/>
          </a:xfrm>
          <a:prstGeom prst="line">
            <a:avLst/>
          </a:prstGeom>
          <a:noFill/>
          <a:ln w="25400">
            <a:solidFill>
              <a:srgbClr val="6C7A8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11096" y="2468880"/>
            <a:ext cx="13533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48256" y="2578608"/>
            <a:ext cx="320040" cy="3200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14016" y="2578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14016" y="28346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DAG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64408" y="2926080"/>
            <a:ext cx="54864" cy="0"/>
          </a:xfrm>
          <a:prstGeom prst="line">
            <a:avLst/>
          </a:prstGeom>
          <a:noFill/>
          <a:ln w="25400">
            <a:solidFill>
              <a:srgbClr val="6C7A8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19272" y="2468880"/>
            <a:ext cx="13533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56432" y="2578608"/>
            <a:ext cx="320040" cy="320040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22192" y="2578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eval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22192" y="28346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gate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72584" y="2926080"/>
            <a:ext cx="54864" cy="0"/>
          </a:xfrm>
          <a:prstGeom prst="line">
            <a:avLst/>
          </a:prstGeom>
          <a:noFill/>
          <a:ln w="25400">
            <a:solidFill>
              <a:srgbClr val="6C7A8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27448" y="2468880"/>
            <a:ext cx="13533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2578608"/>
            <a:ext cx="320040" cy="3200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30368" y="2578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28346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→ staging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2926080"/>
            <a:ext cx="54864" cy="0"/>
          </a:xfrm>
          <a:prstGeom prst="line">
            <a:avLst/>
          </a:prstGeom>
          <a:noFill/>
          <a:ln w="25400">
            <a:solidFill>
              <a:srgbClr val="6C7A8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35624" y="2468880"/>
            <a:ext cx="13533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2784" y="2578608"/>
            <a:ext cx="320040" cy="3200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38544" y="2578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build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38544" y="28346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image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88936" y="2926080"/>
            <a:ext cx="54864" cy="0"/>
          </a:xfrm>
          <a:prstGeom prst="line">
            <a:avLst/>
          </a:prstGeom>
          <a:noFill/>
          <a:ln w="25400">
            <a:solidFill>
              <a:srgbClr val="6C7A8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543800" y="2468880"/>
            <a:ext cx="13533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680960" y="2578608"/>
            <a:ext cx="320040" cy="3200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046720" y="2578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deploy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28346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user risk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897112" y="2926080"/>
            <a:ext cx="54864" cy="0"/>
          </a:xfrm>
          <a:prstGeom prst="line">
            <a:avLst/>
          </a:prstGeom>
          <a:noFill/>
          <a:ln w="25400">
            <a:solidFill>
              <a:srgbClr val="6C7A8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951976" y="2468880"/>
            <a:ext cx="13533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089136" y="2578608"/>
            <a:ext cx="320040" cy="3200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89136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454896" y="2578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454896" y="28346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challenger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305288" y="2926080"/>
            <a:ext cx="54864" cy="0"/>
          </a:xfrm>
          <a:prstGeom prst="line">
            <a:avLst/>
          </a:prstGeom>
          <a:noFill/>
          <a:ln w="25400">
            <a:solidFill>
              <a:srgbClr val="6C7A89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360152" y="2468880"/>
            <a:ext cx="13533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497312" y="2578608"/>
            <a:ext cx="320040" cy="320040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97312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863072" y="2578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863072" y="28346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913278" y="3703320"/>
            <a:ext cx="2165299" cy="73152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50438" y="3776472"/>
            <a:ext cx="18909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GATE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050438" y="4069080"/>
            <a:ext cx="18909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 · p90 cov · no metric regression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545982" y="3703320"/>
            <a:ext cx="2165299" cy="73152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3142" y="3776472"/>
            <a:ext cx="18909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683142" y="4069080"/>
            <a:ext cx="18909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env · on-call sign-off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02920" y="4846320"/>
            <a:ext cx="11183112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B92E3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85800" y="5001768"/>
            <a:ext cx="320040" cy="320040"/>
          </a:xfrm>
          <a:prstGeom prst="ellipse">
            <a:avLst/>
          </a:prstGeom>
          <a:solidFill>
            <a:srgbClr val="B92E37"/>
          </a:solidFill>
          <a:ln w="12700">
            <a:solidFill>
              <a:srgbClr val="B92E3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" y="5001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14300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rollback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143000" y="5193792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Wired to SLO burn rates — if error rate &gt; 1% or drift PSI ≥ 0.25 sustains for the alert window, the registry promotes the previously-archived version back to production.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REDFIN APPLIED ML · MVP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09167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signals. Four thresholds. One response.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dashboard for an AVM is the one that answers: is the model still earning its customers' trust?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91672" cy="457200"/>
          </a:xfrm>
          <a:prstGeom prst="rect">
            <a:avLst/>
          </a:prstGeom>
          <a:solidFill>
            <a:srgbClr val="1E2128"/>
          </a:solidFill>
          <a:ln w="12700">
            <a:solidFill>
              <a:srgbClr val="1E21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33172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95728" y="23317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38928" y="23317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19088" y="23317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99248" y="2331720"/>
            <a:ext cx="3831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916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889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278892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p95 /v1/avm/predict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38928" y="278892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150ms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19088" y="278892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250ms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99248" y="2788920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HPA headroom + feature-store latency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11091672" cy="640080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42900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95728" y="342900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5xx / total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38928" y="342900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0.1%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9088" y="342900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99248" y="3429000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logs; rollback if correlated with deploy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110916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06908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drift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95728" y="406908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redfin_ml_drift_max_psi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38928" y="406908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0.10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19088" y="406908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0.25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99248" y="4069080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histograms; check upstream pipelines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91672" cy="640080"/>
          </a:xfrm>
          <a:prstGeom prst="rect">
            <a:avLst/>
          </a:prstGeom>
          <a:solidFill>
            <a:srgbClr val="F7F4EE"/>
          </a:solidFill>
          <a:ln w="12700">
            <a:solidFill>
              <a:srgbClr val="E3DE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70916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drift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95728" y="4709160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AVM median prediction shift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38928" y="470916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1.2× 24h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19088" y="470916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1.5× 24h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99248" y="4709160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+ high-priority — almost always a model issue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55321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8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alert includes a runbook_url. No pager without a runbook.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REDFIN APPLIED ML · MVP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9167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0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SILENT KILLER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1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Training/serving skew is how good models fail quietly.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single strongest opinion about MLOps: skew detection and prevention beat everything else.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9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FAILS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60320"/>
            <a:ext cx="54864" cy="731520"/>
          </a:xfrm>
          <a:prstGeom prst="rect">
            <a:avLst/>
          </a:prstGeom>
          <a:solidFill>
            <a:srgbClr val="B92E37"/>
          </a:solidFill>
          <a:ln w="12700">
            <a:solidFill>
              <a:srgbClr val="B92E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334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skew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077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code in training and serving drift apart. A null-handling change, a unit change, an off-by-one in a window.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401568"/>
            <a:ext cx="54864" cy="731520"/>
          </a:xfrm>
          <a:prstGeom prst="rect">
            <a:avLst/>
          </a:prstGeom>
          <a:solidFill>
            <a:srgbClr val="B92E37"/>
          </a:solidFill>
          <a:ln w="12700">
            <a:solidFill>
              <a:srgbClr val="B92E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74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skew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reads from the warehouse, serving reads from Redis. Subtly different values for the same listing.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42816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242816"/>
            <a:ext cx="54864" cy="731520"/>
          </a:xfrm>
          <a:prstGeom prst="rect">
            <a:avLst/>
          </a:prstGeom>
          <a:solidFill>
            <a:srgbClr val="B92E37"/>
          </a:solidFill>
          <a:ln w="12700">
            <a:solidFill>
              <a:srgbClr val="B92E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159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skew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producer adds a field, silently changes a default — training keeps using last month's semantics.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084064"/>
            <a:ext cx="5577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5084064"/>
            <a:ext cx="54864" cy="731520"/>
          </a:xfrm>
          <a:prstGeom prst="rect">
            <a:avLst/>
          </a:prstGeom>
          <a:solidFill>
            <a:srgbClr val="B92E37"/>
          </a:solidFill>
          <a:ln w="12700">
            <a:solidFill>
              <a:srgbClr val="B92E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1572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43153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target-encoded feature accidentally recomputed at serve time, using today's labels.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F9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MVP PREVENTS 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256032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2560320"/>
            <a:ext cx="54864" cy="731520"/>
          </a:xfrm>
          <a:prstGeom prst="rect">
            <a:avLst/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6334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feature-transform fn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29077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`src/avm/features.build_features()` — imported by training AND serving. Proven by `tests/test_features.py`.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3401568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3401568"/>
            <a:ext cx="54864" cy="731520"/>
          </a:xfrm>
          <a:prstGeom prst="rect">
            <a:avLst/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474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interface, both stores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3749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`FeatureStore` abstraction hides offline (Parquet) vs. online (Redis) — transforms never branch on source.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0" y="4242816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4242816"/>
            <a:ext cx="54864" cy="731520"/>
          </a:xfrm>
          <a:prstGeom prst="rect">
            <a:avLst/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315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Schema-registered contracts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45902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(Prod) Avro in Kafka, strict types at API boundary. (MVP) Pydantic schemas + CI type checks.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5084064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5084064"/>
            <a:ext cx="54864" cy="731520"/>
          </a:xfrm>
          <a:prstGeom prst="rect">
            <a:avLst/>
          </a:prstGeom>
          <a:solidFill>
            <a:srgbClr val="3F9E7E"/>
          </a:solidFill>
          <a:ln w="12700">
            <a:solidFill>
              <a:srgbClr val="3F9E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51572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 as the backstop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0" y="54315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skew slips through: drift detector catches it within the alert window, not months later.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REDFIN APPLIED ML · MVP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9167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90 DAYS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I'd ship in my first quarter.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first. Then ship. Then build leverage.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9476" y="2743200"/>
            <a:ext cx="3566160" cy="3566160"/>
          </a:xfrm>
          <a:prstGeom prst="rect">
            <a:avLst/>
          </a:prstGeom>
          <a:solidFill>
            <a:srgbClr val="1E2128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743200"/>
            <a:ext cx="3566160" cy="73152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3796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 + orient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53796" y="408736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396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on-call rotations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3796" y="459028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396" y="4480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registry hygiene + lineage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" y="509320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last 2 incidents end-to-end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" y="559612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" y="5486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feature pipeline surface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11396" y="2743200"/>
            <a:ext cx="3566160" cy="3566160"/>
          </a:xfrm>
          <a:prstGeom prst="rect">
            <a:avLst/>
          </a:prstGeom>
          <a:solidFill>
            <a:srgbClr val="1E2128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1396" y="2743200"/>
            <a:ext cx="3566160" cy="73152"/>
          </a:xfrm>
          <a:prstGeom prst="rect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5716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3-6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85716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real wins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85716" y="408736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4316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AVM p95 latency by 30%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85716" y="459028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4316" y="4480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monitoring on the top 10 feats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85716" y="509320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4316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up shadow-deploy path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85716" y="559612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4316" y="5486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1 AVM candidate end-to-end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43316" y="2743200"/>
            <a:ext cx="3566160" cy="3566160"/>
          </a:xfrm>
          <a:prstGeom prst="rect">
            <a:avLst/>
          </a:prstGeom>
          <a:solidFill>
            <a:srgbClr val="1E2128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3316" y="2743200"/>
            <a:ext cx="3566160" cy="73152"/>
          </a:xfrm>
          <a:prstGeom prst="rect">
            <a:avLst/>
          </a:prstGeom>
          <a:solidFill>
            <a:srgbClr val="F4B942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17636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7-12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17636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leverage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8517636" y="408736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46236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feature-transform library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517636" y="459028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46236" y="4480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rollback on SLO burn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517636" y="509320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46236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1-day candidate turnaround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517636" y="5596128"/>
            <a:ext cx="109728" cy="109728"/>
          </a:xfrm>
          <a:prstGeom prst="ellipse">
            <a:avLst/>
          </a:prstGeom>
          <a:solidFill>
            <a:srgbClr val="A02021"/>
          </a:solidFill>
          <a:ln w="12700">
            <a:solidFill>
              <a:srgbClr val="A0202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46236" y="5486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multi-modal: image embeddings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· INTERVIEW MVP ·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0879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Redfin Applied ML MVP</dc:title>
  <dc:subject>PptxGenJS Presentation</dc:subject>
  <dc:creator>Henry</dc:creator>
  <cp:lastModifiedBy>Henry</cp:lastModifiedBy>
  <cp:revision>1</cp:revision>
  <dcterms:created xsi:type="dcterms:W3CDTF">2026-04-21T20:11:28Z</dcterms:created>
  <dcterms:modified xsi:type="dcterms:W3CDTF">2026-04-21T20:11:28Z</dcterms:modified>
</cp:coreProperties>
</file>